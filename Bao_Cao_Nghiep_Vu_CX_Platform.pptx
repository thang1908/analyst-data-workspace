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10728655" cy="46634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188720" y="1554480"/>
            <a:ext cx="292608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BÁO CÁO NGHIỆP VỤ &amp; ĐỊNH HƯỚNG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03120"/>
            <a:ext cx="97840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CX Journey, Service &amp; Hotspot Intelligence</a:t>
            </a:r>
          </a:p>
          <a:p>
            <a:pPr>
              <a:defRPr sz="1800">
                <a:solidFill>
                  <a:srgbClr val="94A3B8"/>
                </a:solidFill>
              </a:defRPr>
            </a:pPr>
            <a:r>
              <a:t>Nền tảng Quản trị Trải nghiệm Cư dân &amp; Điểm nóng Vận hành Bất động sản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657600"/>
            <a:ext cx="97840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Báo cáo Khảo sát Nghiệp vụ Chuẩn hóa (Taxonomy 3.0.0) • Đề xuất Phạm vi Thử nghiệm Pilot (P0)</a:t>
            </a:r>
            <a:br/>
            <a:r>
              <a:t>Trình duyệt 7 Quyết định Nghiệp vụ Then chốt dành cho Ban Lãnh đạo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937760"/>
            <a:ext cx="9784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4748B"/>
                </a:solidFill>
              </a:defRPr>
            </a:pPr>
            <a:r>
              <a:t>Báo cáo viên: CX &amp; Data Analyst Team  |  Dự án: Pilot CX Platform  |  Ngày: 17/08/2026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CX INTELLIGENCE &amp; OPERATIONS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1. Bối cảnh &amp; Mục tiêu Chuyển dịch Nghiệp vụ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FF1F2"/>
          </a:solidFill>
          <a:ln>
            <a:solidFill>
              <a:srgbClr val="FECDD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11D48"/>
                </a:solidFill>
              </a:defRPr>
            </a:pPr>
            <a:r>
              <a:t>HIỆN TRẠNG &amp; HẠN CHẾ CŨ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❌ Chỉ đếm số lượng ticket/khiếu nại: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Báo cáo chỉ cho biết 'có 500 ticket', không rõ khách bức xúc ở giai đoạn nào trong hành trình.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❌ Dữ liệu khảo sát tĩnh trên Excel: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Rời rạc, không liên kết trực tiếp với năng lực cung cấp dịch vụ thực tế của Ban Quản Lý (BQL).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❌ Xử lý sự vụ, bị động: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Cùng một sự cố (như kẹt thang máy, ngập bãi xe) lặp lại nhiều lần tại 1 tòa nhà mà không có cảnh báo sớm.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❌ Chưa tìm nguyên nhân gốc (RCA):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Chỉ đóng ticket tạm thời khi cư dân phàn nàn, dẫn đến vấn đề liên tục tái diễn.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MỤC TIÊU NỀN TẢNG CX MỚI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✅ Định vị đa chiều thông minh: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Khách ở bước nào trong 36 bước hành trình → Sử dụng dịch vụ gì → Gặp sự cố cụ thể nào.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✅ Gắn chặt với 10 Dịch vụ BQL: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Xác định rõ ràng Bộ phận/Chuyên viên (Service Owner) chịu trách nhiệm giải quyết.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✅ Phát hiện Điểm nóng (Hotspots):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Tự động gom cụm theo không gian &amp; thời gian (VD: Tòa S2 có 4 phản ánh thang máy/tuần).</a:t>
            </a:r>
          </a:p>
          <a:p>
            <a:pPr>
              <a:spcBef>
                <a:spcPts val="800"/>
              </a:spcBef>
              <a:defRPr sz="1200" b="1">
                <a:solidFill>
                  <a:srgbClr val="1E293B"/>
                </a:solidFill>
              </a:defRPr>
            </a:pPr>
            <a:r>
              <a:t>✅ Xử lý nguyên nhân gốc (RCA):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Liên kết bằng chứng thực tế, phân biệt triệu chứng với nguyên nhân để phòng ngừa triệt để.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CX INTELLIGENCE &amp; OPERATIONS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2. Mô hình Vận hành Khép kín (Closed-Loop Operations)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338328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LẮNG NGHE - (Listen)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Thu thập phản hồi từ App cư dân, Hotline, Lễ tân, Khảo sát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389120" y="1463040"/>
            <a:ext cx="338328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THẤU HIỂU - (Understand)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1031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Chuẩn hóa dữ liệu theo Taxonomy; AI gợi ý nhãn phân loại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46720" y="1463040"/>
            <a:ext cx="338328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PHÁT HIỆN - (Detect)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103120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Tự động gom cụm phát hiện Điểm nóng (Hotspot) theo Tòa/Khu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49039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3749039"/>
            <a:ext cx="338328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ƯU TIÊN - (Prioritize)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89119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Phân cấp: Khẩn cấp (Immediate), Cần làm (Urgent), Kế hoạch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749039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389120" y="3749039"/>
            <a:ext cx="338328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5. HÀNH ĐỘNG - (Act)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4389119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Điều phối đúng BQL / Kỹ thuật xử lý dứt điểm có SLA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20" y="3749039"/>
            <a:ext cx="3383280" cy="20116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046720" y="3749039"/>
            <a:ext cx="338328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6. PHÒNG NGỪA - (Learn)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389119"/>
            <a:ext cx="30175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1E293B"/>
                </a:solidFill>
              </a:defRPr>
            </a:pPr>
            <a:r>
              <a:t>Phân tích nguyên nhân gốc rễ (RCA), tránh sự cố tái diễn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943600"/>
            <a:ext cx="10728655" cy="5486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2563EB"/>
                </a:solidFill>
              </a:defRPr>
            </a:pPr>
            <a:r>
              <a:t>⭐ NGUYÊN TẮC: Mọi chỉ số trên Dashboard đều có thể Bấm Xem Chi Tiết (Drill-down) đến từng phản hồi gốc có bằng chứng.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CX INTELLIGENCE &amp; OPERATIONS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3. Khung Nghiệp vụ Khảo sát Chuẩn hóa (Taxonomy 3.0.0)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411480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749039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2 TRỤC VÒNG ĐỜI ĐỘC LẬP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1. Vòng đời Khách hàng (6 Giai đoạn / 36 Bước):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Nhận thức (A1–A3): 3 bước tiếp cận ban đầu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Xem xét (C1–C6): 6 bước tư vấn &amp; xem dự án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Giao dịch (TR01–TR06): 6 bước cọc &amp; ký HĐMB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Nhận nhà (HO01–HO05): 5 bước nghiệm thu &amp; nhận nhà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Cư trú (RES01–RES08): 8 bước đời sống cư dân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• Vận hành (OPS01–OPS08): 8 bước quản lý của BQL</a:t>
            </a:r>
          </a:p>
          <a:p>
            <a:pPr>
              <a:spcBef>
                <a:spcPts val="800"/>
              </a:spcBef>
              <a:defRPr sz="1100" b="1">
                <a:solidFill>
                  <a:srgbClr val="1E293B"/>
                </a:solidFill>
              </a:defRPr>
            </a:pPr>
            <a:r>
              <a:t>2. Vòng đời Yêu cầu Dịch vụ (8 Bước):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SRV-01 (Tìm tin) → SRV-02 (Gửi yêu cầu) → SRV-03 (Duyệt) → SRV-04 (Thanh toán) → SRV-05 (Phục vụ) → SRV-06 (Theo dõi) → SRV-07 (Hoàn tất) → SRV-08 (Đánh giá).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1463040"/>
            <a:ext cx="630936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0" y="1645920"/>
            <a:ext cx="5943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10 NHÓM DỊCH VỤ VẬN HÀNH &amp; 28 SỰ CỐ CHUẨN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SV-01 Bán hàng &amp; HĐ: Tư vấn, đặt cọc, tiến độ HĐMB (3 Issues)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SV-02 Thủ tục &amp; Tài chính: Phí quản lý, hóa đơn, công nợ (3 Issues)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SV-03 Bàn giao nhà: Lịch bàn giao, tồn tại nghiệm thu (3 Issues)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SV-04 Hồ sơ cư dân &amp; App: Đăng ký cư dân, tính năng trên App (3 Issues)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SV-05 Ra vào &amp; Bãi xe: Thẻ cư dân, cổng barie, chỗ đỗ xe (3 Issues)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SV-06 Vệ sinh &amp; Môi trường: Rác thải, mùi hôi, cảnh quan cây xanh (3 Issues)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SV-07 Kỹ thuật &amp; Tiện ích: Thang máy, điện nước chung, điều hòa (3 Issues)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SV-08 An ninh &amp; PCCC: Bảo vệ, camera, báo cháy, an toàn (3 Issues)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SV-09 Tiện ích trả phí: Hồ bơi, sân tennis, gym, BBQ (3 Issues)</a:t>
            </a:r>
          </a:p>
          <a:p>
            <a:pPr>
              <a:defRPr sz="1050">
                <a:solidFill>
                  <a:srgbClr val="1E293B"/>
                </a:solidFill>
              </a:defRPr>
            </a:pPr>
            <a:r>
              <a:t>• SV-10 Dịch vụ khác: Vấn đề phát sinh khác (Bắt buộc duyệt) (1 Issue)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CX INTELLIGENCE &amp; OPERATIONS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4. 4 Nguyên tắc Nghiệp vụ Bất biến (Kèm Ví dụ Thực tế)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600200"/>
            <a:ext cx="484632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HÀNH TRÌNH ≠ DỊCH VỤ (N:N)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293B"/>
                </a:solidFill>
              </a:defRPr>
            </a:pPr>
            <a:r>
              <a:t>Bước hành trình không đồng nhất với 1 dịch vụ duy nhất.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📌 VÍ DỤ THỰC TẾ: Khách ở bước 'RES-03 Ra vào &amp; di chuyển' có thể phàn nàn về Dịch vụ Bãi xe (SV-05), Thang máy (SV-07), hoặc An ninh (SV-08).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12064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4846320" cy="3657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TRIỆU CHỨNG (ISSUE) ≠ NGUYÊN NHÂN (CAUSE)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293B"/>
                </a:solidFill>
              </a:defRPr>
            </a:pPr>
            <a:r>
              <a:t>Sự cố khách nhìn thấy không phải là nguyên nhân kỹ thuật.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📌 VÍ DỤ THỰC TẾ: Khách báo 'Chờ thang máy quá lâu' (Triệu chứng/Issue); Nguyên nhân (Cause) có thể là do 'Hỏng biến tần' hoặc 'Giờ cao điểm học sinh đi học'.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3977640"/>
            <a:ext cx="48463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GIẢ THUYẾT ≠ ROOT CAUSE XÁC NHẬN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293B"/>
                </a:solidFill>
              </a:defRPr>
            </a:pPr>
            <a:r>
              <a:t>Phân định rõ giả định điều tra với kết luận có bằng chứng.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📌 VÍ DỤ THỰC TẾ: AI hoặc CSKH chỉ đưa ra Candidate Cause (Giả thuyết). Chỉ khi BQL/Kỹ thuật đến hiện trường kiểm tra có biên bản thì mới là Confirmed Root Cause.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77640"/>
            <a:ext cx="484632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VAI TRÒ CỦA AI TRONG GIAI ĐOẠN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3891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E293B"/>
                </a:solidFill>
              </a:defRPr>
            </a:pPr>
            <a:r>
              <a:t>AI đóng vai trò Trợ lý Gợi ý (Suggest-only).</a:t>
            </a:r>
          </a:p>
          <a:p>
            <a:pPr>
              <a:spcBef>
                <a:spcPts val="400"/>
              </a:spcBef>
              <a:defRPr sz="1000">
                <a:solidFill>
                  <a:srgbClr val="64748B"/>
                </a:solidFill>
              </a:defRPr>
            </a:pPr>
            <a:r>
              <a:t>📌 VÍ DỤ THỰC TẾ: Khi nạp file phản ánh, AI tự động gợi ý nhãn (Khách phàn nàn app cư dân). BQL/Reviewer bấm 'Duyệt' thì dữ liệu mới lên Dashboard chính thức.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CX INTELLIGENCE &amp; OPERATIONS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5. Phân kỳ Triển khai: Pilot (P0) vs Mở rộng (P1/P2)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2563EB"/>
                </a:solidFill>
              </a:defRPr>
            </a:pPr>
            <a:r>
              <a:t>GIAI ĐOẠN 1: PILOT (P0) — TẬP TRUNG LÀM NGAY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🔹 Nạp &amp; Chuẩn hóa Dữ liệu Lịch sử: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Hỗ trợ import file CSV/Excel từ CSKH, Lễ tân; lọc trùng và che mờ thông tin cá nhân (PII Masking).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🔹 Tách Phản ánh Đa ý định (Multi-intent):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Cư dân gửi 1 câu chứa 2 việc (vừa chê app vừa kêu bãi xe) → Tách làm 2 item độc lập.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🔹 Không gian Duyệt nhãn AI (Feedback Workspace):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AI gợi ý tự động, nhân viên duyệt nhanh 1-click để đưa dữ liệu vào báo cáo.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🔹 Thuật toán Điểm nóng (Hotspots P0):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Tự động phát hiện cụm sự cố lặp lại theo Tòa nhà/Dịch vụ và gán người phụ trách.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🔹 4 Báo cáo Điều hành CX Cốt lõi: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Cung cấp góc nhìn tổng quan cho Lãnh đạo &amp; BQL Tòa nhà có tính năng Drill-down.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463040"/>
            <a:ext cx="5120640" cy="47548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E293B"/>
                </a:solidFill>
              </a:defRPr>
            </a:pPr>
            <a:r>
              <a:t>GIAI ĐOẠN 2: MỞ RỘNG (P1/P2) — SAU KHI PILOT XONG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🔸 Tích hợp API Thời gian thực: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Kết nối trực tiếp với App Cư dân, Tổng đài Call Center, CRM, BMS/CMMS.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🔸 Quản trị Ticket &amp; Giám sát SLA: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Tạo ticket xử lý sự cố, theo dõi thời hạn cam kết SLA của từng nhà thầu vận hành.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🔸 Kích hoạt Cảnh báo Khẩn cấp (Hard Trigger):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Tự động kích hoạt thông báo khẩn đối với sự cố an toàn/PCCC (SEV-1).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🔸 Phân tích Xu hướng Nâng cao (MoM/YoY):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So sánh biến động theo tháng và cùng kỳ năm trước khi có đủ 13 tháng dữ liệu thực.</a:t>
            </a:r>
          </a:p>
          <a:p>
            <a:pPr>
              <a:spcBef>
                <a:spcPts val="600"/>
              </a:spcBef>
              <a:defRPr sz="1100" b="1">
                <a:solidFill>
                  <a:srgbClr val="1E293B"/>
                </a:solidFill>
              </a:defRPr>
            </a:pPr>
            <a:r>
              <a:t>🔸 Khảo sát Định kỳ Tự động (CSAT/CES/NPS):</a:t>
            </a:r>
          </a:p>
          <a:p>
            <a:pPr>
              <a:defRPr sz="1000">
                <a:solidFill>
                  <a:srgbClr val="64748B"/>
                </a:solidFill>
              </a:defRPr>
            </a:pPr>
            <a:r>
              <a:t>Tự động gửi khảo sát đo lường độ hài lòng sau mỗi lần cư dân được phục vụ.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CX INTELLIGENCE &amp; OPERATIONS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6. Hệ thống 4 Dashboard Điều hành CX dành cho Lãnh đạo &amp; BQL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1600200"/>
            <a:ext cx="484632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1. CX OVERVIEW (Tổng quan)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Theo dõi 'nhịp tim' toàn diện của dự án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Tổng khối lượng phản ánh theo thời gian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Tỷ lệ hài lòng / tiêu cực / chưa rõ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Số lượng Điểm nóng đang hoạt động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Tỷ lệ hoàn thiện dữ liệu theo Tòa nhà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0" y="1463040"/>
            <a:ext cx="512064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63640" y="1600200"/>
            <a:ext cx="4846320" cy="36576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2. CUSTOMER JOURNEY (Hành trình)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201168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Đo lường mức độ hài lòng theo 6 giai đoạn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Nhìn rõ khách đang 'tắc' ở bước nào nhất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So sánh mức độ tiêu cực giữa các giai đoạn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Điểm nghẽn từ Giao dịch đến Cư trú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Bấm vào bước để xem chi tiết phản ánh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840480"/>
            <a:ext cx="512064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3977640"/>
            <a:ext cx="4846320" cy="36576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3. SERVICE &amp; PAIN POINTS (Dịch vụ)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3891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Đánh giá chất lượng 10 Dịch vụ BQL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Bảng xếp hạng Dịch vụ &amp; 28 Sự cố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Dịch vụ nào nhận nhiều phàn nàn nhất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Lọc linh hoạt theo Tòa nhà / Thời gian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So sánh hiệu quả vận hành giữa các tòa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3840480"/>
            <a:ext cx="5120640" cy="219456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77640"/>
            <a:ext cx="4846320" cy="36576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4. HOTSPOT ACTION QUEUE (Điểm nóng)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4389120"/>
            <a:ext cx="4754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E293B"/>
                </a:solidFill>
              </a:defRPr>
            </a:pPr>
            <a:r>
              <a:t>Bảng điều phối hành động dành cho BQL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Danh sách cụm sự cố lặp lại cần xử lý ngay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Phân loại: Khẩn cấp / Cần làm / Theo dõi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Gán người phụ trách (Service Owner)</a:t>
            </a:r>
          </a:p>
          <a:p>
            <a:pPr>
              <a:defRPr sz="950">
                <a:solidFill>
                  <a:srgbClr val="64748B"/>
                </a:solidFill>
              </a:defRPr>
            </a:pPr>
            <a:r>
              <a:t>• Xem toàn bộ bằng chứng phản ánh liên quan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TRỌNG TÂM CUỘC HỌP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7. Các Quyết định Nghiệp vụ Mở cần Sếp Chỉ đạo &amp; Phê duyệt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72865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2926080"/>
                <a:gridCol w="4114800"/>
                <a:gridCol w="2956255"/>
              </a:tblGrid>
              <a:tr h="59436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STT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Nội dung cần Sếp Phê duyệt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Đề xuất Cụ thể của Team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Tác động / Lý do cần chốt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Phạm vi Pilot (Scope)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Chọn 1 Dự án cụ thể (VD: Tòa S2) &amp; 3 Dịch vụ trọng điểm (Thang máy, Bãi xe, App).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Khoanh vùng để kiểm soát chất lượng.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Nguồn Dữ liệu Mẫu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Trích xuất dữ liệu phản ánh/khảo sát thực tế 3-6 tháng gần nhất từ CSKH/Lễ tân.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Có dữ liệu thật để kiểm thử mô hình.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Phê duyệt Taxonomy 3.0.0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Ban hành chính thức 10 Dịch vụ &amp; Gán Service Owner cho từng Trưởng bộ phận.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Xác định rõ người chịu trách nhiệm.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Chính sách Bảo mật PII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Che mờ SĐT, số căn khi AI xử lý; Chỉ Trưởng BQL/Admin được xem thông tin gốc.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Đảm bảo tuân thủ bảo mật cư dân.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Ngưỡng Điểm nóng (Hotspot)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Cùng 1 lỗi xuất hiện ≥ 3 lần trong 7 ngày tại 1 Tòa nhà → Tạo cảnh báo Hotspot.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Tránh báo động giả nhưng không lọt lỗi.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Quy tắc Tách phản ánh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Phản ánh chứa 2 vấn đề khác nhau sẽ tự động tách thành 2 việc riêng biệt.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Phân loại chính xác cho từng bộ phận.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1E293B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Nhân sự tham gia 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Cử 1 CX Analyst, 1 Reviewer duyệt nhãn, và BQL Tòa Pilot tiếp nhận Hotspot.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E293B"/>
                          </a:solidFill>
                        </a:defRPr>
                      </a:pPr>
                      <a:r>
                        <a:t>Đảm bảo có nhân sự vận hành thực tế.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CX INTELLIGENCE &amp; OPERATIONS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1E293B"/>
                </a:solidFill>
              </a:defRPr>
            </a:pPr>
            <a:r>
              <a:t>8. Kế hoạch Hành động Tiếp theo (Next Steps &amp; Roadmap)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865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2560320" cy="29260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256032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TUẦN 1: THỐNG NHẤT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10312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Họp Workshop 1 buổi với các Trưởng bộ phận (BQL, CSKH, Kỹ thuật) để chốt 7 quyết định nghiệp vụ.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463040"/>
            <a:ext cx="2560320" cy="29260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560320" cy="54864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TUẦN 2: CHUẨN BỊ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10312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Thu thập &amp; làm sạch dữ liệu mẫu; Thiết lập hệ thống, tài khoản và phân quyền bảo mật PII.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63040"/>
            <a:ext cx="2560320" cy="29260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26480" y="1463040"/>
            <a:ext cx="256032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TUẦN 3-4: VẬN HÀNH 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210312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Chạy thử nghiệm hệ thống; Đội ngũ duyệt nhãn và BQL tiếp nhận, xử lý Điểm nóng thực tế.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463040"/>
            <a:ext cx="2560320" cy="2926080"/>
          </a:xfrm>
          <a:prstGeom prst="roundRect">
            <a:avLst/>
          </a:prstGeom>
          <a:solidFill>
            <a:srgbClr val="F1F5F9"/>
          </a:solidFill>
          <a:ln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823960" y="1463040"/>
            <a:ext cx="256032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TUẦN 5: BÁO CÁO &amp; MỞ RỘNG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20" y="2103120"/>
            <a:ext cx="22860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1E293B"/>
                </a:solidFill>
              </a:defRPr>
            </a:pPr>
            <a:r>
              <a:t>Đánh giá kết quả Pilot, độ chính xác của AI và trình Sếp kế hoạch kết nối API (Giai đoạn P1).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63440"/>
            <a:ext cx="10728655" cy="155448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754880"/>
            <a:ext cx="10149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🎯 KIẾN NGHỊ SẾP PHÊ DUYỆT TRONG BUỔI HÔM NAY:</a:t>
            </a:r>
          </a:p>
          <a:p>
            <a:pPr>
              <a:spcBef>
                <a:spcPts val="400"/>
              </a:spcBef>
              <a:defRPr sz="1100" b="1">
                <a:solidFill>
                  <a:srgbClr val="1E293B"/>
                </a:solidFill>
              </a:defRPr>
            </a:pPr>
            <a:r>
              <a:t>1. Phê duyệt chủ trương triển khai thử nghiệm Giai đoạn Pilot (P0) theo khung Taxonomy 3.0.0.</a:t>
            </a:r>
          </a:p>
          <a:p>
            <a:pPr>
              <a:spcBef>
                <a:spcPts val="200"/>
              </a:spcBef>
              <a:defRPr sz="1100" b="1">
                <a:solidFill>
                  <a:srgbClr val="1E293B"/>
                </a:solidFill>
              </a:defRPr>
            </a:pPr>
            <a:r>
              <a:t>2. Đồng ý cho phép tổ chức 01 buổi Workshop ngắn với các Trưởng bộ phận liên quan để chốt chi tiết 7 Quyết định mở.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